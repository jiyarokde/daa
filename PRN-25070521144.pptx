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JetBrains Mono"/>
      <p:bold r:id="rId13"/>
    </p:embeddedFont>
    <p:embeddedFont>
      <p:font typeface="Nirmala Text Semilight" panose="020B0402040204020203" pitchFamily="34" charset="0"/>
      <p:regular r:id="rId14"/>
    </p:embeddedFont>
    <p:embeddedFont>
      <p:font typeface="Outfit"/>
      <p:bold r:id="rId15"/>
    </p:embeddedFont>
    <p:embeddedFont>
      <p:font typeface="Plus Jakarta Sans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ya Rokde" userId="4f4912f780e6a313" providerId="LiveId" clId="{1E01F244-0617-4494-A224-D95F0281CEF3}"/>
    <pc:docChg chg="undo custSel modSld">
      <pc:chgData name="Jiya Rokde" userId="4f4912f780e6a313" providerId="LiveId" clId="{1E01F244-0617-4494-A224-D95F0281CEF3}" dt="2026-10-17T06:30:40.708" v="6" actId="1076"/>
      <pc:docMkLst>
        <pc:docMk/>
      </pc:docMkLst>
      <pc:sldChg chg="modSp mod">
        <pc:chgData name="Jiya Rokde" userId="4f4912f780e6a313" providerId="LiveId" clId="{1E01F244-0617-4494-A224-D95F0281CEF3}" dt="2026-10-17T06:30:19.243" v="4" actId="2711"/>
        <pc:sldMkLst>
          <pc:docMk/>
          <pc:sldMk cId="0" sldId="259"/>
        </pc:sldMkLst>
        <pc:spChg chg="mod">
          <ac:chgData name="Jiya Rokde" userId="4f4912f780e6a313" providerId="LiveId" clId="{1E01F244-0617-4494-A224-D95F0281CEF3}" dt="2026-10-17T06:29:14.505" v="0" actId="2711"/>
          <ac:spMkLst>
            <pc:docMk/>
            <pc:sldMk cId="0" sldId="259"/>
            <ac:spMk id="15" creationId="{00000000-0000-0000-0000-000000000000}"/>
          </ac:spMkLst>
        </pc:spChg>
        <pc:spChg chg="mod">
          <ac:chgData name="Jiya Rokde" userId="4f4912f780e6a313" providerId="LiveId" clId="{1E01F244-0617-4494-A224-D95F0281CEF3}" dt="2026-10-17T06:29:47.173" v="1" actId="2711"/>
          <ac:spMkLst>
            <pc:docMk/>
            <pc:sldMk cId="0" sldId="259"/>
            <ac:spMk id="17" creationId="{00000000-0000-0000-0000-000000000000}"/>
          </ac:spMkLst>
        </pc:spChg>
        <pc:spChg chg="mod">
          <ac:chgData name="Jiya Rokde" userId="4f4912f780e6a313" providerId="LiveId" clId="{1E01F244-0617-4494-A224-D95F0281CEF3}" dt="2026-10-17T06:30:19.243" v="4" actId="2711"/>
          <ac:spMkLst>
            <pc:docMk/>
            <pc:sldMk cId="0" sldId="259"/>
            <ac:spMk id="18" creationId="{00000000-0000-0000-0000-000000000000}"/>
          </ac:spMkLst>
        </pc:spChg>
      </pc:sldChg>
      <pc:sldChg chg="modSp mod">
        <pc:chgData name="Jiya Rokde" userId="4f4912f780e6a313" providerId="LiveId" clId="{1E01F244-0617-4494-A224-D95F0281CEF3}" dt="2026-10-17T06:30:40.708" v="6" actId="1076"/>
        <pc:sldMkLst>
          <pc:docMk/>
          <pc:sldMk cId="0" sldId="260"/>
        </pc:sldMkLst>
        <pc:spChg chg="mod">
          <ac:chgData name="Jiya Rokde" userId="4f4912f780e6a313" providerId="LiveId" clId="{1E01F244-0617-4494-A224-D95F0281CEF3}" dt="2026-10-17T06:30:33.338" v="5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Jiya Rokde" userId="4f4912f780e6a313" providerId="LiveId" clId="{1E01F244-0617-4494-A224-D95F0281CEF3}" dt="2026-10-17T06:30:40.708" v="6" actId="1076"/>
          <ac:spMkLst>
            <pc:docMk/>
            <pc:sldMk cId="0" sldId="260"/>
            <ac:spMk id="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6B240-4438-45F6-ABCF-AC7B593372CE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1BC19-ADF6-4A6F-AA39-5C7DE10E4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7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1BC19-ADF6-4A6F-AA39-5C7DE10E41D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175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33400"/>
            <a:ext cx="3743325" cy="342900"/>
          </a:xfrm>
          <a:prstGeom prst="roundRect">
            <a:avLst>
              <a:gd name="adj" fmla="val 50000"/>
            </a:avLst>
          </a:prstGeom>
          <a:solidFill>
            <a:srgbClr val="141830"/>
          </a:solidFill>
          <a:ln w="9525">
            <a:solidFill>
              <a:srgbClr val="2D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5534025"/>
            <a:ext cx="10972800" cy="790575"/>
          </a:xfrm>
          <a:prstGeom prst="roundRect">
            <a:avLst>
              <a:gd name="adj" fmla="val 16867"/>
            </a:avLst>
          </a:prstGeom>
          <a:solidFill>
            <a:srgbClr val="161E2C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276725" y="5734050"/>
            <a:ext cx="9525" cy="390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05750" y="5734050"/>
            <a:ext cx="9525" cy="390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638175"/>
            <a:ext cx="11430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395537"/>
            <a:ext cx="5312352" cy="6412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sz="4500" b="1" i="0" u="none" dirty="0">
                <a:solidFill>
                  <a:srgbClr val="FFFFF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 Sort 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195637"/>
            <a:ext cx="8667750" cy="549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 dirty="0">
                <a:solidFill>
                  <a:srgbClr val="94A3B8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 stable, comparison-based sorting algorithm relying on logarithmic recursive decomposition and linear-time merging.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286375"/>
            <a:ext cx="405560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6366F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619125"/>
            <a:ext cx="256320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818CF8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DESIGN &amp; ANALYSIS OF ALGORITHMS (DAA)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5734050"/>
            <a:ext cx="309380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5915025"/>
            <a:ext cx="90088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400" b="1" dirty="0">
                <a:solidFill>
                  <a:srgbClr val="F8FAFC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JIYA ROKDE</a:t>
            </a:r>
            <a:endParaRPr sz="1400" b="1" i="0" u="none" dirty="0">
              <a:solidFill>
                <a:srgbClr val="F8FAFC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14850" y="5734050"/>
            <a:ext cx="209994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00" b="1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PRN</a:t>
            </a:r>
            <a:endParaRPr sz="900" b="1" i="0" u="none" dirty="0">
              <a:solidFill>
                <a:srgbClr val="64748B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14850" y="5915025"/>
            <a:ext cx="100508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400" b="1" dirty="0">
                <a:solidFill>
                  <a:srgbClr val="F8FAFC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25070521144</a:t>
            </a:r>
            <a:endParaRPr sz="1400" b="1" i="0" u="none" dirty="0">
              <a:solidFill>
                <a:srgbClr val="F8FAFC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43875" y="5734050"/>
            <a:ext cx="44082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00" b="1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SECTION</a:t>
            </a:r>
            <a:endParaRPr sz="900" b="1" i="0" u="none" dirty="0">
              <a:solidFill>
                <a:srgbClr val="64748B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43875" y="5915025"/>
            <a:ext cx="10900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400" b="1" dirty="0">
                <a:solidFill>
                  <a:srgbClr val="F8FAFC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C</a:t>
            </a:r>
            <a:endParaRPr sz="1400" b="1" i="0" u="none" dirty="0">
              <a:solidFill>
                <a:srgbClr val="F8FAFC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09948"/>
            <a:ext cx="6104632" cy="3314402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3925" y="4619476"/>
            <a:ext cx="5475982" cy="590550"/>
          </a:xfrm>
          <a:prstGeom prst="roundRect">
            <a:avLst>
              <a:gd name="adj" fmla="val 645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019032" y="2276475"/>
            <a:ext cx="4563367" cy="695325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19032" y="3105150"/>
            <a:ext cx="4563367" cy="695325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19032" y="3933825"/>
            <a:ext cx="4563367" cy="695325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19032" y="4762500"/>
            <a:ext cx="4563367" cy="695325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925" y="4619476"/>
            <a:ext cx="38100" cy="5905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19057" y="245268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19057" y="328136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19057" y="411003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19057" y="493871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524273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37" y="2638573"/>
            <a:ext cx="21907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95300"/>
            <a:ext cx="137537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FOUNDATIONAL THEORY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14375"/>
            <a:ext cx="4653518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Theory &amp; Fundamental Concept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095773"/>
            <a:ext cx="5571232" cy="696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 Sort is a classic </a:t>
            </a:r>
            <a:r>
              <a:rPr sz="1400" b="1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Divide and Conquer</a:t>
            </a:r>
            <a:r>
              <a:rPr sz="14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sorting algorithm. It sorts an array by recursively dividing it into smaller subarrays until each contains only one element, which is naturally sorted.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979515"/>
            <a:ext cx="5571232" cy="452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Finally, adjacent sorted subarrays are iteratively merged together to build the complete, fully sorted array in linear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7325" y="2600473"/>
            <a:ext cx="2430152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Core Algorithmic Definition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425" y="4733776"/>
            <a:ext cx="52283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475569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Stability: Merge Sort is stable—it guarantees equal elements preserve their relative order.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6182" y="2531804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6182" y="3360479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6182" y="4189154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6182" y="5017829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5307" y="2438400"/>
            <a:ext cx="40556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Divide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5307" y="2638425"/>
            <a:ext cx="286296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Split array into two equal halves recursively.</a:t>
            </a:r>
            <a:endParaRPr sz="1200" b="0" i="0" u="none" dirty="0">
              <a:solidFill>
                <a:srgbClr val="64748B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95307" y="3267075"/>
            <a:ext cx="64601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Base 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5307" y="3467100"/>
            <a:ext cx="258243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Stop division when subarray length is 1.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5307" y="4095750"/>
            <a:ext cx="42159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5307" y="4295775"/>
            <a:ext cx="296395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Compare adjacent items and merge in order.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5307" y="4924425"/>
            <a:ext cx="58669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Combine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5307" y="5124450"/>
            <a:ext cx="328615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Repeat until full array is completely reconstructed.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095500" y="4743450"/>
            <a:ext cx="2933700" cy="400050"/>
          </a:xfrm>
          <a:prstGeom prst="roundRect">
            <a:avLst>
              <a:gd name="adj" fmla="val 19047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095500" y="2447925"/>
            <a:ext cx="400050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52700" y="2447925"/>
            <a:ext cx="400050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009900" y="2447925"/>
            <a:ext cx="400050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67100" y="2447925"/>
            <a:ext cx="400050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24300" y="2447925"/>
            <a:ext cx="400050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1500" y="2447925"/>
            <a:ext cx="400050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838700" y="2447925"/>
            <a:ext cx="400050" cy="361950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095500" y="2886075"/>
            <a:ext cx="1238250" cy="295275"/>
          </a:xfrm>
          <a:prstGeom prst="roundRect">
            <a:avLst>
              <a:gd name="adj" fmla="val 19354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62350" y="2886075"/>
            <a:ext cx="952500" cy="295275"/>
          </a:xfrm>
          <a:prstGeom prst="roundRect">
            <a:avLst>
              <a:gd name="adj" fmla="val 19354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095500" y="3257550"/>
            <a:ext cx="685800" cy="295275"/>
          </a:xfrm>
          <a:prstGeom prst="roundRect">
            <a:avLst>
              <a:gd name="adj" fmla="val 19354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33700" y="3257550"/>
            <a:ext cx="590550" cy="295275"/>
          </a:xfrm>
          <a:prstGeom prst="roundRect">
            <a:avLst>
              <a:gd name="adj" fmla="val 19354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76650" y="3257550"/>
            <a:ext cx="590550" cy="295275"/>
          </a:xfrm>
          <a:prstGeom prst="roundRect">
            <a:avLst>
              <a:gd name="adj" fmla="val 19354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19600" y="3257550"/>
            <a:ext cx="400050" cy="295275"/>
          </a:xfrm>
          <a:prstGeom prst="roundRect">
            <a:avLst>
              <a:gd name="adj" fmla="val 19354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095500" y="3629025"/>
            <a:ext cx="552450" cy="295275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43200" y="3629025"/>
            <a:ext cx="552450" cy="295275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390900" y="3629025"/>
            <a:ext cx="552450" cy="295275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38600" y="3629025"/>
            <a:ext cx="457200" cy="295275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91050" y="3629025"/>
            <a:ext cx="457200" cy="295275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43500" y="3629025"/>
            <a:ext cx="552450" cy="295275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791200" y="3629025"/>
            <a:ext cx="552450" cy="295275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095500" y="4000500"/>
            <a:ext cx="685800" cy="295275"/>
          </a:xfrm>
          <a:prstGeom prst="roundRect">
            <a:avLst>
              <a:gd name="adj" fmla="val 1935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933700" y="4000500"/>
            <a:ext cx="590550" cy="295275"/>
          </a:xfrm>
          <a:prstGeom prst="roundRect">
            <a:avLst>
              <a:gd name="adj" fmla="val 1935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676650" y="4000500"/>
            <a:ext cx="590550" cy="295275"/>
          </a:xfrm>
          <a:prstGeom prst="roundRect">
            <a:avLst>
              <a:gd name="adj" fmla="val 1935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19600" y="4000500"/>
            <a:ext cx="400050" cy="295275"/>
          </a:xfrm>
          <a:prstGeom prst="roundRect">
            <a:avLst>
              <a:gd name="adj" fmla="val 1935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095500" y="4371975"/>
            <a:ext cx="1238250" cy="295275"/>
          </a:xfrm>
          <a:prstGeom prst="roundRect">
            <a:avLst>
              <a:gd name="adj" fmla="val 1935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562350" y="4371975"/>
            <a:ext cx="952500" cy="295275"/>
          </a:xfrm>
          <a:prstGeom prst="roundRect">
            <a:avLst>
              <a:gd name="adj" fmla="val 1935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190750" y="4781550"/>
            <a:ext cx="34290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590800" y="4781550"/>
            <a:ext cx="34290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990850" y="4781550"/>
            <a:ext cx="34290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390900" y="4781550"/>
            <a:ext cx="34290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790950" y="4781550"/>
            <a:ext cx="34290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191000" y="4781550"/>
            <a:ext cx="34290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591050" y="4781550"/>
            <a:ext cx="342900" cy="3238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9600" y="419100"/>
            <a:ext cx="144449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4F46E5"/>
                </a:solidFill>
                <a:latin typeface="JetBrains Mono"/>
              </a:rPr>
              <a:t>EXECUTION TREE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619125"/>
            <a:ext cx="562647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0F172A"/>
                </a:solidFill>
                <a:latin typeface="Outfit"/>
              </a:rPr>
              <a:t>Working Example Breakdown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2552700"/>
            <a:ext cx="80310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64748B"/>
                </a:solidFill>
                <a:latin typeface="JetBrains Mono"/>
              </a:rPr>
              <a:t>INPUT ARRAY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2957512"/>
            <a:ext cx="516167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4F46E5"/>
                </a:solidFill>
                <a:latin typeface="JetBrains Mono"/>
              </a:rPr>
              <a:t>1. </a:t>
            </a:r>
            <a:r>
              <a:rPr sz="1100" b="1" i="0" u="none" dirty="0">
                <a:solidFill>
                  <a:srgbClr val="4F46E5"/>
                </a:solidFill>
                <a:latin typeface="JetBrains Mono"/>
              </a:rPr>
              <a:t>DIVIDE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3328987"/>
            <a:ext cx="96661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4F46E5"/>
                </a:solidFill>
                <a:latin typeface="JetBrains Mono"/>
              </a:rPr>
              <a:t>2. DIVIDE AGAIN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3700462"/>
            <a:ext cx="833562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D97706"/>
                </a:solidFill>
                <a:latin typeface="JetBrains Mono"/>
              </a:rPr>
              <a:t>3. BASE UNITS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4071937"/>
            <a:ext cx="95058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59669"/>
                </a:solidFill>
                <a:latin typeface="JetBrains Mono"/>
              </a:rPr>
              <a:t>4. MERGE PAIRS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4443412"/>
            <a:ext cx="105958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59669"/>
                </a:solidFill>
                <a:latin typeface="JetBrains Mono"/>
              </a:rPr>
              <a:t>5. MERGE HALVES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4867275"/>
            <a:ext cx="841577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59669"/>
                </a:solidFill>
                <a:latin typeface="JetBrains Mono"/>
              </a:rPr>
              <a:t>FINAL SORTED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2625" y="2542338"/>
            <a:ext cx="685800" cy="1731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38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09825" y="2447925"/>
            <a:ext cx="6858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67025" y="2447925"/>
            <a:ext cx="6858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43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24225" y="2447925"/>
            <a:ext cx="6858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81425" y="2447925"/>
            <a:ext cx="6858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38625" y="2447925"/>
            <a:ext cx="6858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82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95825" y="2447925"/>
            <a:ext cx="6858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E293B"/>
                </a:solidFill>
                <a:latin typeface="Plus Jakarta Sans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28850" y="2924175"/>
            <a:ext cx="10668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30A3"/>
                </a:solidFill>
                <a:latin typeface="JetBrains Mono"/>
              </a:rPr>
              <a:t>38 27 43 3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95700" y="2924175"/>
            <a:ext cx="781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30A3"/>
                </a:solidFill>
                <a:latin typeface="JetBrains Mono"/>
              </a:rPr>
              <a:t>9 82 10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90750" y="3295650"/>
            <a:ext cx="5905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30A3"/>
                </a:solidFill>
                <a:latin typeface="JetBrains Mono"/>
              </a:rPr>
              <a:t>38 27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28950" y="3295650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30A3"/>
                </a:solidFill>
                <a:latin typeface="JetBrains Mono"/>
              </a:rPr>
              <a:t>43 3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71900" y="3295650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30A3"/>
                </a:solidFill>
                <a:latin typeface="JetBrains Mono"/>
              </a:rPr>
              <a:t>9 82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14850" y="3295650"/>
            <a:ext cx="3048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30A3"/>
                </a:solidFill>
                <a:latin typeface="JetBrains Mono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71700" y="3667125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8350F"/>
                </a:solidFill>
                <a:latin typeface="JetBrains Mono"/>
              </a:rPr>
              <a:t>[38]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19400" y="3667125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8350F"/>
                </a:solidFill>
                <a:latin typeface="JetBrains Mono"/>
              </a:rPr>
              <a:t>[27]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67100" y="3667125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8350F"/>
                </a:solidFill>
                <a:latin typeface="JetBrains Mono"/>
              </a:rPr>
              <a:t>[43]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3667125"/>
            <a:ext cx="400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8350F"/>
                </a:solidFill>
                <a:latin typeface="JetBrains Mono"/>
              </a:rPr>
              <a:t>[3]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67250" y="3667125"/>
            <a:ext cx="400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8350F"/>
                </a:solidFill>
                <a:latin typeface="JetBrains Mono"/>
              </a:rPr>
              <a:t>[9]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9700" y="3667125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8350F"/>
                </a:solidFill>
                <a:latin typeface="JetBrains Mono"/>
              </a:rPr>
              <a:t>[82]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67400" y="3667125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8350F"/>
                </a:solidFill>
                <a:latin typeface="JetBrains Mono"/>
              </a:rPr>
              <a:t>[10]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90750" y="4038600"/>
            <a:ext cx="5905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JetBrains Mono"/>
              </a:rPr>
              <a:t>27 38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28950" y="4038600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JetBrains Mono"/>
              </a:rPr>
              <a:t>3 43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71900" y="4038600"/>
            <a:ext cx="495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JetBrains Mono"/>
              </a:rPr>
              <a:t>9 82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14850" y="4038600"/>
            <a:ext cx="3048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JetBrains Mono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28850" y="4410075"/>
            <a:ext cx="10668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JetBrains Mono"/>
              </a:rPr>
              <a:t>3 27 38 43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95700" y="4410075"/>
            <a:ext cx="781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JetBrains Mono"/>
              </a:rPr>
              <a:t>9 10 82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47875" y="4781550"/>
            <a:ext cx="628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47925" y="4781550"/>
            <a:ext cx="628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47975" y="4781550"/>
            <a:ext cx="628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48025" y="4781550"/>
            <a:ext cx="628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27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48075" y="4781550"/>
            <a:ext cx="628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38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8125" y="4781550"/>
            <a:ext cx="628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43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48175" y="4781550"/>
            <a:ext cx="62865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82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71600"/>
            <a:ext cx="6061323" cy="4991100"/>
          </a:xfrm>
          <a:prstGeom prst="roundRect">
            <a:avLst>
              <a:gd name="adj" fmla="val 305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75723" y="2486025"/>
            <a:ext cx="4606676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75723" y="3095625"/>
            <a:ext cx="4606676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75723" y="3800475"/>
            <a:ext cx="4606676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75723" y="4410075"/>
            <a:ext cx="4606676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975723" y="5019675"/>
            <a:ext cx="4606676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7648" y="2609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7648" y="32670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7648" y="39243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137648" y="45339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37648" y="51435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0" y="495300"/>
            <a:ext cx="81753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SPECIFICATION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14375"/>
            <a:ext cx="3677289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Algorithm &amp; Pseudocode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440483"/>
            <a:ext cx="5623173" cy="34470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0" i="0" u="none" dirty="0" err="1">
                <a:solidFill>
                  <a:srgbClr val="FF0000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MergeSort</a:t>
            </a:r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(</a:t>
            </a:r>
            <a:r>
              <a:rPr lang="en-US" sz="1600" b="0" i="0" u="none" dirty="0" err="1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arr</a:t>
            </a:r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) </a:t>
            </a:r>
          </a:p>
          <a:p>
            <a:endParaRPr lang="en-US" sz="1600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  <a:p>
            <a:endParaRPr lang="en-US" sz="1600" b="0" i="0" u="none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          </a:t>
            </a:r>
            <a:r>
              <a:rPr lang="en-US" sz="1600" b="0" i="0" u="none" dirty="0">
                <a:solidFill>
                  <a:schemeClr val="accent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if</a:t>
            </a:r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size &lt;= 1 </a:t>
            </a:r>
          </a:p>
          <a:p>
            <a:endParaRPr lang="en-US" sz="1600" b="0" i="0" u="none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                 </a:t>
            </a:r>
            <a:r>
              <a:rPr lang="en-US" sz="1600" b="0" i="0" u="none" dirty="0">
                <a:solidFill>
                  <a:srgbClr val="FF0000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return </a:t>
            </a:r>
          </a:p>
          <a:p>
            <a:endParaRPr lang="en-US" sz="1600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         </a:t>
            </a:r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find middle </a:t>
            </a:r>
          </a:p>
          <a:p>
            <a:endParaRPr lang="en-US" sz="1600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         </a:t>
            </a:r>
            <a:r>
              <a:rPr lang="en-US" sz="1600" b="0" i="0" u="none" dirty="0" err="1">
                <a:solidFill>
                  <a:srgbClr val="FF0000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MergeSort</a:t>
            </a:r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(left) </a:t>
            </a:r>
          </a:p>
          <a:p>
            <a:endParaRPr lang="en-US" sz="1600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         </a:t>
            </a:r>
            <a:r>
              <a:rPr lang="en-US" sz="1600" b="0" i="0" u="none" dirty="0" err="1">
                <a:solidFill>
                  <a:srgbClr val="FF0000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MergeSort</a:t>
            </a:r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(right) </a:t>
            </a:r>
          </a:p>
          <a:p>
            <a:endParaRPr lang="en-US" sz="1600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  <a:p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         </a:t>
            </a:r>
            <a:r>
              <a:rPr lang="en-US" sz="1600" b="0" i="0" u="none" dirty="0">
                <a:solidFill>
                  <a:srgbClr val="00B050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</a:t>
            </a:r>
            <a:r>
              <a:rPr lang="en-US" sz="1600" b="0" i="0" u="none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(left, right)</a:t>
            </a:r>
            <a:endParaRPr sz="1600" b="0" i="0" u="none" dirty="0">
              <a:solidFill>
                <a:schemeClr val="bg1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75723" y="2200275"/>
            <a:ext cx="111729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2002333"/>
            <a:ext cx="95673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818CF8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MergeSort</a:t>
            </a:r>
            <a:r>
              <a:rPr sz="1200" b="1" i="0" u="none" dirty="0">
                <a:solidFill>
                  <a:srgbClr val="818CF8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(</a:t>
            </a:r>
            <a:r>
              <a:rPr sz="1200" b="1" i="0" u="none" dirty="0" err="1">
                <a:solidFill>
                  <a:srgbClr val="818CF8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arr</a:t>
            </a:r>
            <a:r>
              <a:rPr sz="1200" b="1" i="0" u="none" dirty="0">
                <a:solidFill>
                  <a:srgbClr val="818CF8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2223" y="2002333"/>
            <a:ext cx="66204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Pseudocode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4773" y="2668179"/>
            <a:ext cx="552450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8648" y="2652712"/>
            <a:ext cx="316112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Check base case: array length ≤ 1 is already sorted.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4773" y="3325404"/>
            <a:ext cx="552450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8648" y="3299446"/>
            <a:ext cx="3997076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Calculate middle index to partition array into two halves.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4773" y="3982629"/>
            <a:ext cx="552450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8648" y="3967162"/>
            <a:ext cx="310341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Recursively invoke </a:t>
            </a:r>
            <a:r>
              <a:rPr sz="1125" b="0" i="0" u="none" dirty="0" err="1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MergeSort</a:t>
            </a:r>
            <a:r>
              <a:rPr sz="1125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on the left subarray.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4773" y="4592229"/>
            <a:ext cx="552450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8648" y="4576762"/>
            <a:ext cx="319959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Recursively invoke </a:t>
            </a:r>
            <a:r>
              <a:rPr sz="1125" b="0" i="0" u="none" dirty="0" err="1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MergeSort</a:t>
            </a:r>
            <a:r>
              <a:rPr sz="1125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on the right subarray.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4773" y="5201829"/>
            <a:ext cx="552450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 dirty="0">
                <a:solidFill>
                  <a:srgbClr val="F8FAFC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8648" y="5186362"/>
            <a:ext cx="344164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 both sorted halves sequentially into target array.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15025" y="2138362"/>
            <a:ext cx="1714500" cy="371475"/>
          </a:xfrm>
          <a:prstGeom prst="roundRect">
            <a:avLst>
              <a:gd name="adj" fmla="val 2051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229225" y="3643312"/>
            <a:ext cx="542925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76950" y="3643312"/>
            <a:ext cx="542925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24675" y="3643312"/>
            <a:ext cx="542925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0" y="3643312"/>
            <a:ext cx="542925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76925" y="5100637"/>
            <a:ext cx="1790700" cy="371475"/>
          </a:xfrm>
          <a:prstGeom prst="roundRect">
            <a:avLst>
              <a:gd name="adj" fmla="val 2051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95950" y="2909887"/>
            <a:ext cx="838200" cy="333375"/>
          </a:xfrm>
          <a:prstGeom prst="roundRect">
            <a:avLst>
              <a:gd name="adj" fmla="val 22857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10400" y="2909887"/>
            <a:ext cx="838200" cy="333375"/>
          </a:xfrm>
          <a:prstGeom prst="roundRect">
            <a:avLst>
              <a:gd name="adj" fmla="val 22857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95950" y="4367212"/>
            <a:ext cx="838200" cy="333375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10400" y="4367212"/>
            <a:ext cx="838200" cy="333375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612" y="2652712"/>
            <a:ext cx="104775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612" y="3386137"/>
            <a:ext cx="104775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612" y="4110037"/>
            <a:ext cx="104775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612" y="4843462"/>
            <a:ext cx="104775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88966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TRACE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76275"/>
            <a:ext cx="440345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Trace Example on Input [8, 4, 2, 6]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903" y="2247900"/>
            <a:ext cx="33182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INPUT: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6" y="2208512"/>
            <a:ext cx="13525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8FAFC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[8, 4, 2, 6]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7768" y="3000375"/>
            <a:ext cx="36388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DIVIDE: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9725" y="3718675"/>
            <a:ext cx="37147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E293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[8]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212" y="3700462"/>
            <a:ext cx="37147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E293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4700" y="3718675"/>
            <a:ext cx="37147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E293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[2]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3850" y="3718675"/>
            <a:ext cx="37147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E293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[6]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0134" y="4457700"/>
            <a:ext cx="381515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 u="none" dirty="0">
                <a:solidFill>
                  <a:srgbClr val="D97706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MERGE: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8593" y="5210175"/>
            <a:ext cx="44403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 u="none" dirty="0">
                <a:solidFill>
                  <a:srgbClr val="059669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OUTPUT: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8412" y="5157787"/>
            <a:ext cx="13525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FFFF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[2, 4, 6, 8]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967037"/>
            <a:ext cx="5905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730A3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[8 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8050" y="2967037"/>
            <a:ext cx="5905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730A3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[2 6]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76937" y="4424362"/>
            <a:ext cx="5905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78350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[4 8]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050" y="4424362"/>
            <a:ext cx="5905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78350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[2 6]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31905" y="1409700"/>
            <a:ext cx="5150494" cy="495300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76650"/>
            <a:ext cx="5517505" cy="828675"/>
          </a:xfrm>
          <a:prstGeom prst="roundRect">
            <a:avLst>
              <a:gd name="adj" fmla="val 160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130" y="3284934"/>
            <a:ext cx="19050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130" y="3896915"/>
            <a:ext cx="1905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130" y="4477940"/>
            <a:ext cx="190500" cy="1714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9600" y="1409700"/>
            <a:ext cx="5517505" cy="20955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618589"/>
              </p:ext>
            </p:extLst>
          </p:nvPr>
        </p:nvGraphicFramePr>
        <p:xfrm>
          <a:off x="609600" y="1409700"/>
          <a:ext cx="5507979" cy="2095500"/>
        </p:xfrm>
        <a:graphic>
          <a:graphicData uri="http://schemas.openxmlformats.org/drawingml/2006/table">
            <a:tbl>
              <a:tblPr/>
              <a:tblGrid>
                <a:gridCol w="2603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4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F8FAFC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F8FAFC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Time Complexity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0F172A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Best 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F46E5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O(n log 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0F172A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Average 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F46E5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O(n log 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0F172A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Worst 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F46E5"/>
                          </a:solidFill>
                          <a:latin typeface="Nirmala Text Semilight" panose="020B0402040204020203" pitchFamily="34" charset="0"/>
                          <a:ea typeface="Nirmala Text Semilight" panose="020B0402040204020203" pitchFamily="34" charset="0"/>
                          <a:cs typeface="Nirmala Text Semilight" panose="020B0402040204020203" pitchFamily="34" charset="0"/>
                        </a:rPr>
                        <a:t>O(n log 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495300"/>
            <a:ext cx="139461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PERFORMANCE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14375"/>
            <a:ext cx="3725379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Time &amp; Space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8130" y="2922984"/>
            <a:ext cx="126957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WHY O(n log n)?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3180" y="3876675"/>
            <a:ext cx="644407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D97706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1980" y="3227784"/>
            <a:ext cx="4369444" cy="403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200" b="1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log n Tree Depth:</a:t>
            </a:r>
            <a:r>
              <a:rPr sz="12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Dividing the array in half repeatedly creates a recursion tree of height </a:t>
            </a:r>
            <a:r>
              <a:rPr sz="1200" b="1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log2 n</a:t>
            </a:r>
            <a:r>
              <a:rPr sz="12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980" y="3839765"/>
            <a:ext cx="4369444" cy="403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200" b="1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n Work Per Level:</a:t>
            </a:r>
            <a:r>
              <a:rPr sz="12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Merging sub-arrays at each tree level requires linear </a:t>
            </a:r>
            <a:r>
              <a:rPr sz="1200" b="1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O(n)</a:t>
            </a:r>
            <a:r>
              <a:rPr sz="12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total comparisons.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980" y="4420790"/>
            <a:ext cx="4369444" cy="403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200" b="1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O(n) Memory:</a:t>
            </a:r>
            <a:r>
              <a:rPr sz="1200" b="0" i="0" u="none" dirty="0">
                <a:solidFill>
                  <a:srgbClr val="33415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 Temporary arrays are required during the merge phase to hold copied sub-elements.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886200"/>
            <a:ext cx="872034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D97706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AUXILIARY 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076700"/>
            <a:ext cx="129683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Space Complexity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47875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09875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571875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333875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5095875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266950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028950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790950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552950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5314950"/>
            <a:ext cx="26670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95300"/>
            <a:ext cx="87524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59669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KEY 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14375"/>
            <a:ext cx="4541308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Advantages of Merge Sort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9675" y="2257425"/>
            <a:ext cx="500938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Stable sorting algorithm </a:t>
            </a:r>
            <a:r>
              <a:rPr sz="1400" b="0" i="0" u="none" dirty="0">
                <a:solidFill>
                  <a:srgbClr val="475569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— preserves relative order of equal keys.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9675" y="3019425"/>
            <a:ext cx="465351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Guaranteed O(n log n) time complexity in all input conditions.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3781425"/>
            <a:ext cx="328859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Highly efficient for sorting massive datasets.</a:t>
            </a:r>
            <a:endParaRPr sz="1400" b="1" i="0" u="none" dirty="0">
              <a:solidFill>
                <a:srgbClr val="0F172A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81100" y="4543425"/>
            <a:ext cx="390651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Ideal for linked lists and external disk-based sorting.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825" y="5305425"/>
            <a:ext cx="453181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Straightforward recursive Divide &amp; Conquer implementation.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24100"/>
            <a:ext cx="10972800" cy="66675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143250"/>
            <a:ext cx="10972800" cy="66675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62400"/>
            <a:ext cx="10972800" cy="66675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781550"/>
            <a:ext cx="10972800" cy="66675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2562225"/>
            <a:ext cx="23812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3381375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4200525"/>
            <a:ext cx="2381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5019675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95300"/>
            <a:ext cx="93775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E11D48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KEY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501739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Disadvantages of Merge Sort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2552700"/>
            <a:ext cx="521136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Requires O(n) additional memory for temporary arrays during merge.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6825" y="3371850"/>
            <a:ext cx="256159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Not an in-place sorting algorithm.</a:t>
            </a:r>
            <a:endParaRPr sz="1400" b="1" i="0" u="none" dirty="0">
              <a:solidFill>
                <a:srgbClr val="0F172A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95400" y="4191000"/>
            <a:ext cx="440825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Recursive calls increase function call stack space overhead.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6825" y="5010150"/>
            <a:ext cx="610904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Slower than Quick Sort for small arrays due to recursion and allocation overhead.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429125"/>
            <a:ext cx="10972800" cy="819150"/>
          </a:xfrm>
          <a:prstGeom prst="roundRect">
            <a:avLst>
              <a:gd name="adj" fmla="val 16279"/>
            </a:avLst>
          </a:prstGeom>
          <a:solidFill>
            <a:srgbClr val="FAFAFD"/>
          </a:solidFill>
          <a:ln w="9525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86025"/>
            <a:ext cx="5410200" cy="819150"/>
          </a:xfrm>
          <a:prstGeom prst="roundRect">
            <a:avLst>
              <a:gd name="adj" fmla="val 16279"/>
            </a:avLst>
          </a:prstGeom>
          <a:solidFill>
            <a:srgbClr val="FAFAFD"/>
          </a:solidFill>
          <a:ln w="9525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2486025"/>
            <a:ext cx="5410200" cy="819150"/>
          </a:xfrm>
          <a:prstGeom prst="roundRect">
            <a:avLst>
              <a:gd name="adj" fmla="val 16279"/>
            </a:avLst>
          </a:prstGeom>
          <a:solidFill>
            <a:srgbClr val="FAFAFD"/>
          </a:solidFill>
          <a:ln w="9525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457575"/>
            <a:ext cx="5410200" cy="819150"/>
          </a:xfrm>
          <a:prstGeom prst="roundRect">
            <a:avLst>
              <a:gd name="adj" fmla="val 16279"/>
            </a:avLst>
          </a:prstGeom>
          <a:solidFill>
            <a:srgbClr val="FAFAFD"/>
          </a:solidFill>
          <a:ln w="9525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3457575"/>
            <a:ext cx="5410200" cy="819150"/>
          </a:xfrm>
          <a:prstGeom prst="roundRect">
            <a:avLst>
              <a:gd name="adj" fmla="val 16279"/>
            </a:avLst>
          </a:prstGeom>
          <a:solidFill>
            <a:srgbClr val="FAFAFD"/>
          </a:solidFill>
          <a:ln w="9525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629150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686050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2686050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657600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3657600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752975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2809875"/>
            <a:ext cx="1524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2809875"/>
            <a:ext cx="1333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737" y="3781425"/>
            <a:ext cx="2190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3781425"/>
            <a:ext cx="17145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95300"/>
            <a:ext cx="121347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4F46E5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PRACTICAL USE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14375"/>
            <a:ext cx="4627870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Applications of Merge Sort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9225" y="4638675"/>
            <a:ext cx="144110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Parallel Computing</a:t>
            </a:r>
            <a:endParaRPr sz="1400" b="1" i="0" u="none" dirty="0">
              <a:solidFill>
                <a:srgbClr val="0F172A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19225" y="4867275"/>
            <a:ext cx="628697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Easily parallelizable across multi-core systems since independent sub-arrays sort autonomously.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9225" y="2695575"/>
            <a:ext cx="129683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Database Sorting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9225" y="2924175"/>
            <a:ext cx="298799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Sorting large collections of records efficiently.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1825" y="2695575"/>
            <a:ext cx="84478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File Sorting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1825" y="2924175"/>
            <a:ext cx="28357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Organizing large files stored on disk drives.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9225" y="3667125"/>
            <a:ext cx="86241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Linked Lists</a:t>
            </a:r>
            <a:endParaRPr sz="1400" b="1" i="0" u="none" dirty="0">
              <a:solidFill>
                <a:srgbClr val="0F172A"/>
              </a:solidFill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9225" y="3895725"/>
            <a:ext cx="398827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Efficient sorting without requiring random memory indexing.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1825" y="3667125"/>
            <a:ext cx="118724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External Sorting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1825" y="3895725"/>
            <a:ext cx="380873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Sorting massive data sets that exceed physical RAM limits.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535601" y="4451554"/>
            <a:ext cx="7120798" cy="45719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610364" y="2345411"/>
            <a:ext cx="971271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u="none" dirty="0">
                <a:solidFill>
                  <a:srgbClr val="818CF8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9019" y="3013876"/>
            <a:ext cx="3733959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 dirty="0">
                <a:solidFill>
                  <a:srgbClr val="FFFFFF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27598C-6B9C-D4C5-1675-278DDEA1110F}"/>
              </a:ext>
            </a:extLst>
          </p:cNvPr>
          <p:cNvSpPr txBox="1"/>
          <p:nvPr/>
        </p:nvSpPr>
        <p:spPr>
          <a:xfrm>
            <a:off x="8211312" y="5907024"/>
            <a:ext cx="3416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Created Using: Claude.ai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688</Words>
  <Application>Microsoft Office PowerPoint</Application>
  <PresentationFormat>Widescreen</PresentationFormat>
  <Paragraphs>161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Nirmala Text Semilight</vt:lpstr>
      <vt:lpstr>Calibri</vt:lpstr>
      <vt:lpstr>Arial</vt:lpstr>
      <vt:lpstr>Aptos</vt:lpstr>
      <vt:lpstr>Outfit</vt:lpstr>
      <vt:lpstr>Plus Jakarta Sans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Jiya Rokde</cp:lastModifiedBy>
  <cp:revision>6</cp:revision>
  <dcterms:created xsi:type="dcterms:W3CDTF">2013-01-27T09:14:16Z</dcterms:created>
  <dcterms:modified xsi:type="dcterms:W3CDTF">2026-10-19T05:06:10Z</dcterms:modified>
  <cp:category/>
</cp:coreProperties>
</file>